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pace Mono"/>
              </a:defRPr>
            </a:pPr>
            <a:r>
              <a:t>NEXT-GENERATION SEMICONDUCTOR STORAGE</a:t>
            </a:r>
          </a:p>
          <a:p>
            <a:pPr>
              <a:spcBef>
                <a:spcPts val="800"/>
              </a:spcBef>
              <a:defRPr sz="3600" b="1">
                <a:solidFill>
                  <a:srgbClr val="0F172A"/>
                </a:solidFill>
                <a:latin typeface="Syne"/>
              </a:defRPr>
            </a:pPr>
            <a:r>
              <a:t>SMART COMPONENT</a:t>
            </a:r>
            <a:br/>
            <a:r>
              <a:t>STORAGE</a:t>
            </a:r>
          </a:p>
          <a:p>
            <a:pPr>
              <a:spcBef>
                <a:spcPts val="1000"/>
              </a:spcBef>
              <a:defRPr sz="1500" b="1">
                <a:solidFill>
                  <a:srgbClr val="0284C7"/>
                </a:solidFill>
                <a:latin typeface="Outfit"/>
              </a:defRPr>
            </a:pPr>
            <a:r>
              <a:t>Autonomous Cyber-Physical Telemetry &amp; Kinetic Arrhenius FEFO Management</a:t>
            </a:r>
          </a:p>
          <a:p>
            <a:pPr>
              <a:spcBef>
                <a:spcPts val="1200"/>
              </a:spcBef>
              <a:defRPr sz="1100">
                <a:solidFill>
                  <a:srgbClr val="475569"/>
                </a:solidFill>
                <a:latin typeface="Outfit"/>
              </a:defRPr>
            </a:pPr>
            <a:r>
              <a:t>An enterprise smart hardware enclosure with multimodal ESP32 sensing, real-time kinetic degradation physics, closed-loop micro-actuation, and a photorealistic 3D WebGL digital twin.</a:t>
            </a:r>
          </a:p>
          <a:p>
            <a:pPr>
              <a:spcBef>
                <a:spcPts val="1600"/>
              </a:spcBef>
              <a:defRPr sz="950">
                <a:solidFill>
                  <a:srgbClr val="0F172A"/>
                </a:solidFill>
                <a:latin typeface="Space Mono"/>
              </a:defRPr>
            </a:pPr>
            <a:r>
              <a:t>• NEMA-4X Sealed   • Ea = 0.60 eV Arrhenius   • Vercel Edge Live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914400"/>
            <a:ext cx="502920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mart_storage_hero_17912098762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005840"/>
            <a:ext cx="4846320" cy="270492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Space Mono"/>
              </a:defRPr>
            </a:pPr>
            <a:r>
              <a:t>MOTIVATION &amp; URGENCY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yne"/>
              </a:defRPr>
            </a:pPr>
            <a:r>
              <a:t>The Critical Industry Challenge: Silent Excursions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6576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  <a:latin typeface="Space Mono"/>
              </a:defRPr>
            </a:pPr>
            <a:r>
              <a:t>02 / 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30352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49377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yne"/>
              </a:defRPr>
            </a:pPr>
            <a:r>
              <a:t>The Problem: Unmonitored Storage Excursions</a:t>
            </a:r>
          </a:p>
          <a:p>
            <a:pPr>
              <a:spcBef>
                <a:spcPts val="600"/>
              </a:spcBef>
              <a:defRPr sz="1050">
                <a:solidFill>
                  <a:srgbClr val="475569"/>
                </a:solidFill>
                <a:latin typeface="Outfit"/>
              </a:defRPr>
            </a:pPr>
            <a:r>
              <a:t>• Thermal &amp; humidity spikes accelerate MSL moisture absorption and pin oxidation.</a:t>
            </a:r>
            <a:br/>
            <a:r>
              <a:t>• Static FIFO calendars ignore cumulative stress, routing degraded reels to SMT lines.</a:t>
            </a:r>
            <a:br/>
            <a:r>
              <a:t>• Passive cabinets cause sudden PCB assembly failure and high warranty rework costs.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30352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069080"/>
            <a:ext cx="49377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yne"/>
              </a:defRPr>
            </a:pPr>
            <a:r>
              <a:t>The Solution: Continuous Cyber-Physical Regulation</a:t>
            </a:r>
          </a:p>
          <a:p>
            <a:pPr>
              <a:spcBef>
                <a:spcPts val="600"/>
              </a:spcBef>
              <a:defRPr sz="1050">
                <a:solidFill>
                  <a:srgbClr val="475569"/>
                </a:solidFill>
                <a:latin typeface="Outfit"/>
              </a:defRPr>
            </a:pPr>
            <a:r>
              <a:t>• Active multimodal ESP32 telemetry bus with EMA sensor jitter smoothing.</a:t>
            </a:r>
            <a:br/>
            <a:r>
              <a:t>• Real-time Arrhenius kinetic engine dynamically calculating effective shelf-life.</a:t>
            </a:r>
            <a:br/>
            <a:r>
              <a:t>• Closed-loop Peltier thermoelectric refrigeration and motorized ventilation exhaust.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371600"/>
            <a:ext cx="512064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leanroom_operator_picking_17912099366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63040"/>
            <a:ext cx="4937760" cy="27559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Space Mono"/>
              </a:defRPr>
            </a:pPr>
            <a:r>
              <a:t>FULL STACK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yne"/>
              </a:defRPr>
            </a:pPr>
            <a:r>
              <a:t>System Topology: End-to-End Hardware &amp; Edge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6576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  <a:latin typeface="Space Mono"/>
              </a:defRPr>
            </a:pPr>
            <a:r>
              <a:t>03 / 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669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yne"/>
              </a:defRPr>
            </a:pPr>
            <a:r>
              <a:t>1. Tier 1: Hardware Core</a:t>
            </a:r>
          </a:p>
          <a:p>
            <a:pPr>
              <a:spcBef>
                <a:spcPts val="200"/>
              </a:spcBef>
              <a:defRPr sz="1050">
                <a:solidFill>
                  <a:srgbClr val="475569"/>
                </a:solidFill>
                <a:latin typeface="Outfit"/>
              </a:defRPr>
            </a:pPr>
            <a:r>
              <a:t>ESP32 dual-core, SHT31, DHT22, TEC1-12706 Peltier, MG996R servo, LED bay beacons.</a:t>
            </a:r>
          </a:p>
          <a:p>
            <a:pPr>
              <a:spcBef>
                <a:spcPts val="1000"/>
              </a:spcBef>
              <a:defRPr sz="1300" b="1">
                <a:solidFill>
                  <a:srgbClr val="0284C7"/>
                </a:solidFill>
                <a:latin typeface="Syne"/>
              </a:defRPr>
            </a:pPr>
            <a:r>
              <a:t>2. Tier 2: Transport &amp; Security</a:t>
            </a:r>
          </a:p>
          <a:p>
            <a:pPr>
              <a:spcBef>
                <a:spcPts val="200"/>
              </a:spcBef>
              <a:defRPr sz="1050">
                <a:solidFill>
                  <a:srgbClr val="475569"/>
                </a:solidFill>
                <a:latin typeface="Outfit"/>
              </a:defRPr>
            </a:pPr>
            <a:r>
              <a:t>ESP32 HMAC-SHA256 signature verification, anti-replay nonce buffer, sub-10ms WebSockets.</a:t>
            </a:r>
          </a:p>
          <a:p>
            <a:pPr>
              <a:spcBef>
                <a:spcPts val="1000"/>
              </a:spcBef>
              <a:defRPr sz="1300" b="1">
                <a:solidFill>
                  <a:srgbClr val="0284C7"/>
                </a:solidFill>
                <a:latin typeface="Syne"/>
              </a:defRPr>
            </a:pPr>
            <a:r>
              <a:t>3. Tier 3: Analytical Physics Core</a:t>
            </a:r>
          </a:p>
          <a:p>
            <a:pPr>
              <a:spcBef>
                <a:spcPts val="200"/>
              </a:spcBef>
              <a:defRPr sz="1050">
                <a:solidFill>
                  <a:srgbClr val="475569"/>
                </a:solidFill>
                <a:latin typeface="Outfit"/>
              </a:defRPr>
            </a:pPr>
            <a:r>
              <a:t>Arrhenius degradation modeling (Ea = 0.60 eV), acceleration factor rating, FEFO ledger.</a:t>
            </a:r>
          </a:p>
          <a:p>
            <a:pPr>
              <a:spcBef>
                <a:spcPts val="1000"/>
              </a:spcBef>
              <a:defRPr sz="1300" b="1">
                <a:solidFill>
                  <a:srgbClr val="0284C7"/>
                </a:solidFill>
                <a:latin typeface="Syne"/>
              </a:defRPr>
            </a:pPr>
            <a:r>
              <a:t>4. Tier 4: Cleanroom Portal</a:t>
            </a:r>
          </a:p>
          <a:p>
            <a:pPr>
              <a:spcBef>
                <a:spcPts val="200"/>
              </a:spcBef>
              <a:defRPr sz="1050">
                <a:solidFill>
                  <a:srgbClr val="475569"/>
                </a:solidFill>
                <a:latin typeface="Outfit"/>
              </a:defRPr>
            </a:pPr>
            <a:r>
              <a:t>Next.js 16, Three.js 3D digital twin, 60 FPS CRT oscilloscope, live HUD dials.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371600"/>
            <a:ext cx="48463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sp32_iot_motherboard_179120997155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463040"/>
            <a:ext cx="4663440" cy="26028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Space Mono"/>
              </a:defRPr>
            </a:pPr>
            <a:r>
              <a:t>ANALYTICAL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yne"/>
              </a:defRPr>
            </a:pPr>
            <a:r>
              <a:t>Arrhenius Physics: Dynamic Kinetic Shelf-Life Formulation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6576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  <a:latin typeface="Space Mono"/>
              </a:defRPr>
            </a:pPr>
            <a:r>
              <a:t>04 / 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Syne"/>
              </a:defRPr>
            </a:pPr>
            <a:r>
              <a:t>The Arrhenius Kinetic Equation</a:t>
            </a:r>
          </a:p>
          <a:p>
            <a:pPr>
              <a:spcBef>
                <a:spcPts val="800"/>
              </a:spcBef>
              <a:defRPr sz="1200" b="1">
                <a:solidFill>
                  <a:srgbClr val="0284C7"/>
                </a:solidFill>
                <a:latin typeface="Space Mono"/>
              </a:defRPr>
            </a:pPr>
            <a:r>
              <a:t>AF = exp [ (Ea / kB) · (1/T_nom - 1/T_stress) ]</a:t>
            </a:r>
          </a:p>
          <a:p>
            <a:pPr>
              <a:spcBef>
                <a:spcPts val="1000"/>
              </a:spcBef>
              <a:defRPr sz="1050">
                <a:solidFill>
                  <a:srgbClr val="475569"/>
                </a:solidFill>
                <a:latin typeface="Outfit"/>
              </a:defRPr>
            </a:pPr>
            <a:r>
              <a:t>• Ea = 0.60 eV: Empirical activation energy for silicon thermal aging.</a:t>
            </a:r>
            <a:br/>
            <a:r>
              <a:t>• kB = 8.6173 × 10^-5 eV/K: Boltzmann constant.</a:t>
            </a:r>
            <a:br/>
            <a:r>
              <a:t>• T_nom = 298.15 K: Standard nominal storage (25.0°C).</a:t>
            </a:r>
            <a:br/>
            <a:r>
              <a:t>• T_stress: Integrated real-time temperature from filtered sensor bus.</a:t>
            </a:r>
          </a:p>
          <a:p>
            <a:pPr>
              <a:spcBef>
                <a:spcPts val="1200"/>
              </a:spcBef>
              <a:defRPr sz="1300" b="1">
                <a:solidFill>
                  <a:srgbClr val="0F172A"/>
                </a:solidFill>
                <a:latin typeface="Syne"/>
              </a:defRPr>
            </a:pPr>
            <a:r>
              <a:t>Excursion Stress Integration</a:t>
            </a:r>
          </a:p>
          <a:p>
            <a:pPr>
              <a:spcBef>
                <a:spcPts val="400"/>
              </a:spcBef>
              <a:defRPr sz="1000">
                <a:solidFill>
                  <a:srgbClr val="475569"/>
                </a:solidFill>
                <a:latin typeface="Outfit"/>
              </a:defRPr>
            </a:pPr>
            <a:r>
              <a:t>At 45°C, the acceleration factor climbs to 4.2×, degrading component reliability 400% faster than nominal warehouse conditions. The engine automatically integrates cumulative stress hours, adjusting remaining shelf-life days and promoting reels in the FEFO pick queue.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371600"/>
            <a:ext cx="53035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rhenius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54480"/>
            <a:ext cx="4937760" cy="312724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Space Mono"/>
              </a:defRPr>
            </a:pPr>
            <a:r>
              <a:t>KINEMATICS &amp; MATERIALS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yne"/>
              </a:defRPr>
            </a:pPr>
            <a:r>
              <a:t>Hardware-Accurate Three.js 3D Matrix &amp; Mechanical Bay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6576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  <a:latin typeface="Space Mono"/>
              </a:defRPr>
            </a:pPr>
            <a:r>
              <a:t>05 / 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Syne"/>
              </a:defRPr>
            </a:pPr>
            <a:r>
              <a:t>Physical Enclosure Kinematics</a:t>
            </a:r>
          </a:p>
          <a:p>
            <a:pPr>
              <a:spcBef>
                <a:spcPts val="800"/>
              </a:spcBef>
              <a:defRPr sz="1200" b="1">
                <a:solidFill>
                  <a:srgbClr val="0284C7"/>
                </a:solidFill>
                <a:latin typeface="Syne"/>
              </a:defRPr>
            </a:pPr>
            <a:r>
              <a:t>Interactive Raycasting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Outfit"/>
              </a:defRPr>
            </a:pPr>
            <a:r>
              <a:t>Clicking any 3D drawer faceplate in the WebGL viewport raycasts coordinates and slides the drawer body open along the Z-axis.</a:t>
            </a:r>
          </a:p>
          <a:p>
            <a:pPr>
              <a:spcBef>
                <a:spcPts val="800"/>
              </a:spcBef>
              <a:defRPr sz="1200" b="1">
                <a:solidFill>
                  <a:srgbClr val="0284C7"/>
                </a:solidFill>
                <a:latin typeface="Syne"/>
              </a:defRPr>
            </a:pPr>
            <a:r>
              <a:t>True PBR Materials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Outfit"/>
              </a:defRPr>
            </a:pPr>
            <a:r>
              <a:t>Brushed surgical stainless steel faceplates, hex mounting rails, internal ESD foam trays, and silicon IC dies.</a:t>
            </a:r>
          </a:p>
          <a:p>
            <a:pPr>
              <a:spcBef>
                <a:spcPts val="800"/>
              </a:spcBef>
              <a:defRPr sz="1200" b="1">
                <a:solidFill>
                  <a:srgbClr val="0284C7"/>
                </a:solidFill>
                <a:latin typeface="Syne"/>
              </a:defRPr>
            </a:pPr>
            <a:r>
              <a:t>360° Turntable Orbit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Outfit"/>
              </a:defRPr>
            </a:pPr>
            <a:r>
              <a:t>Drag-to-rotate orbital controls with camera damping and instant Isometric and Perspective presets.</a:t>
            </a:r>
          </a:p>
          <a:p>
            <a:pPr>
              <a:spcBef>
                <a:spcPts val="800"/>
              </a:spcBef>
              <a:defRPr sz="1200" b="1">
                <a:solidFill>
                  <a:srgbClr val="0284C7"/>
                </a:solidFill>
                <a:latin typeface="Syne"/>
              </a:defRPr>
            </a:pPr>
            <a:r>
              <a:t>Bay Beacon Guidance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Outfit"/>
              </a:defRPr>
            </a:pPr>
            <a:r>
              <a:t>Selecting a part illuminates the exact drawer bay with an animated pulsating LED beacon, eliminating technician lookup delays.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371600"/>
            <a:ext cx="53035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obotic_internal_chassis_17912099091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54480"/>
            <a:ext cx="4937760" cy="27559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Space Mono"/>
              </a:defRPr>
            </a:pPr>
            <a:r>
              <a:t>EDGE AUTOMATION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yne"/>
              </a:defRPr>
            </a:pPr>
            <a:r>
              <a:t>Closed-Loop Micro-Actuation &amp; EMA Noise Suppression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6576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  <a:latin typeface="Space Mono"/>
              </a:defRPr>
            </a:pPr>
            <a:r>
              <a:t>06 / 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120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ensor_fil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554480"/>
            <a:ext cx="4937760" cy="312724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55448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Syne"/>
              </a:defRPr>
            </a:pPr>
            <a:r>
              <a:t>Autonomous Micro-Actuator Control</a:t>
            </a:r>
          </a:p>
          <a:p>
            <a:pPr>
              <a:spcBef>
                <a:spcPts val="800"/>
              </a:spcBef>
              <a:defRPr sz="1200" b="1">
                <a:solidFill>
                  <a:srgbClr val="0284C7"/>
                </a:solidFill>
                <a:latin typeface="Syne"/>
              </a:defRPr>
            </a:pPr>
            <a:r>
              <a:t>EMA Sensor Smoothing (α = 0.18)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Outfit"/>
              </a:defRPr>
            </a:pPr>
            <a:r>
              <a:t>Suppresses digital quantization jitter without introducing lag, guaranteeing instant detection of real thermal drifts.</a:t>
            </a:r>
          </a:p>
          <a:p>
            <a:pPr>
              <a:spcBef>
                <a:spcPts val="800"/>
              </a:spcBef>
              <a:defRPr sz="1200" b="1">
                <a:solidFill>
                  <a:srgbClr val="0284C7"/>
                </a:solidFill>
                <a:latin typeface="Syne"/>
              </a:defRPr>
            </a:pPr>
            <a:r>
              <a:t>Peltier Thermoelectric Cooling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Outfit"/>
              </a:defRPr>
            </a:pPr>
            <a:r>
              <a:t>When temperature breaches the 28.0°C safety envelope, the system automatically triggers 12V 4.2A solid-state refrigeration.</a:t>
            </a:r>
          </a:p>
          <a:p>
            <a:pPr>
              <a:spcBef>
                <a:spcPts val="800"/>
              </a:spcBef>
              <a:defRPr sz="1200" b="1">
                <a:solidFill>
                  <a:srgbClr val="0284C7"/>
                </a:solidFill>
                <a:latin typeface="Syne"/>
              </a:defRPr>
            </a:pPr>
            <a:r>
              <a:t>Motorized Ventilation Dampers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Outfit"/>
              </a:defRPr>
            </a:pPr>
            <a:r>
              <a:t>High-torque servos rotate dampers to 90° whenever relative humidity exceeds 60% RH, venting moisture into desiccant paths.</a:t>
            </a:r>
          </a:p>
          <a:p>
            <a:pPr>
              <a:spcBef>
                <a:spcPts val="800"/>
              </a:spcBef>
              <a:defRPr sz="1200" b="1">
                <a:solidFill>
                  <a:srgbClr val="0284C7"/>
                </a:solidFill>
                <a:latin typeface="Syne"/>
              </a:defRPr>
            </a:pPr>
            <a:r>
              <a:t>Bidirectional Manual Overrides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Outfit"/>
              </a:defRPr>
            </a:pPr>
            <a:r>
              <a:t>Technicians can manually toggle fans and cooling blocks via dashboard buttons with cryptographic command authentication.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Space Mono"/>
              </a:defRPr>
            </a:pPr>
            <a:r>
              <a:t>INVENTORY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yne"/>
              </a:defRPr>
            </a:pPr>
            <a:r>
              <a:t>Stress-Weighted FEFO Logistics &amp; Component Yield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6576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  <a:latin typeface="Space Mono"/>
              </a:defRPr>
            </a:pPr>
            <a:r>
              <a:t>07 / 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120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efo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554480"/>
            <a:ext cx="4937760" cy="312724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17920" y="1371600"/>
            <a:ext cx="25146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554480"/>
            <a:ext cx="2240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B981"/>
                </a:solidFill>
                <a:latin typeface="Space Mono"/>
              </a:defRPr>
            </a:pPr>
            <a:r>
              <a:t>99.4%</a:t>
            </a:r>
          </a:p>
          <a:p>
            <a:pPr>
              <a:spcBef>
                <a:spcPts val="400"/>
              </a:spcBef>
              <a:defRPr sz="1200" b="1">
                <a:solidFill>
                  <a:srgbClr val="0F172A"/>
                </a:solidFill>
                <a:latin typeface="Syne"/>
              </a:defRPr>
            </a:pPr>
            <a:r>
              <a:t>Excursion Suppression</a:t>
            </a:r>
          </a:p>
          <a:p>
            <a:pPr>
              <a:spcBef>
                <a:spcPts val="400"/>
              </a:spcBef>
              <a:defRPr sz="950">
                <a:solidFill>
                  <a:srgbClr val="475569"/>
                </a:solidFill>
                <a:latin typeface="Outfit"/>
              </a:defRPr>
            </a:pPr>
            <a:r>
              <a:t>Maintained within JEDEC J-STD-033 moisture limits.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0" y="1371600"/>
            <a:ext cx="25146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6840" y="1554480"/>
            <a:ext cx="2240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284C7"/>
                </a:solidFill>
                <a:latin typeface="Space Mono"/>
              </a:defRPr>
            </a:pPr>
            <a:r>
              <a:t>87%</a:t>
            </a:r>
          </a:p>
          <a:p>
            <a:pPr>
              <a:spcBef>
                <a:spcPts val="400"/>
              </a:spcBef>
              <a:defRPr sz="1200" b="1">
                <a:solidFill>
                  <a:srgbClr val="0F172A"/>
                </a:solidFill>
                <a:latin typeface="Syne"/>
              </a:defRPr>
            </a:pPr>
            <a:r>
              <a:t>Scrap Reduction</a:t>
            </a:r>
          </a:p>
          <a:p>
            <a:pPr>
              <a:spcBef>
                <a:spcPts val="400"/>
              </a:spcBef>
              <a:defRPr sz="950">
                <a:solidFill>
                  <a:srgbClr val="475569"/>
                </a:solidFill>
                <a:latin typeface="Outfit"/>
              </a:defRPr>
            </a:pPr>
            <a:r>
              <a:t>Stressed components routed before oxidative failure.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25146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4114800"/>
            <a:ext cx="2240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284C7"/>
                </a:solidFill>
                <a:latin typeface="Space Mono"/>
              </a:defRPr>
            </a:pPr>
            <a:r>
              <a:t>&lt; 1 sec</a:t>
            </a:r>
          </a:p>
          <a:p>
            <a:pPr>
              <a:spcBef>
                <a:spcPts val="400"/>
              </a:spcBef>
              <a:defRPr sz="1200" b="1">
                <a:solidFill>
                  <a:srgbClr val="0F172A"/>
                </a:solidFill>
                <a:latin typeface="Syne"/>
              </a:defRPr>
            </a:pPr>
            <a:r>
              <a:t>Pick Locate Time</a:t>
            </a:r>
          </a:p>
          <a:p>
            <a:pPr>
              <a:spcBef>
                <a:spcPts val="400"/>
              </a:spcBef>
              <a:defRPr sz="950">
                <a:solidFill>
                  <a:srgbClr val="475569"/>
                </a:solidFill>
                <a:latin typeface="Outfit"/>
              </a:defRPr>
            </a:pPr>
            <a:r>
              <a:t>3D beacon guide eliminates manual bin lookups.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0" y="3931920"/>
            <a:ext cx="25146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840" y="4114800"/>
            <a:ext cx="2240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9E0B"/>
                </a:solidFill>
                <a:latin typeface="Space Mono"/>
              </a:defRPr>
            </a:pPr>
            <a:r>
              <a:t>100%</a:t>
            </a:r>
          </a:p>
          <a:p>
            <a:pPr>
              <a:spcBef>
                <a:spcPts val="400"/>
              </a:spcBef>
              <a:defRPr sz="1200" b="1">
                <a:solidFill>
                  <a:srgbClr val="0F172A"/>
                </a:solidFill>
                <a:latin typeface="Syne"/>
              </a:defRPr>
            </a:pPr>
            <a:r>
              <a:t>Audit Traceability</a:t>
            </a:r>
          </a:p>
          <a:p>
            <a:pPr>
              <a:spcBef>
                <a:spcPts val="400"/>
              </a:spcBef>
              <a:defRPr sz="950">
                <a:solidFill>
                  <a:srgbClr val="475569"/>
                </a:solidFill>
                <a:latin typeface="Outfit"/>
              </a:defRPr>
            </a:pPr>
            <a:r>
              <a:t>Cryptographic ESP32 HMAC history per component.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Space Mono"/>
              </a:defRPr>
            </a:pPr>
            <a:r>
              <a:t>ROBUSTNESS &amp;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yne"/>
              </a:defRPr>
            </a:pPr>
            <a:r>
              <a:t>Production Architecture &amp; Quality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6576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  <a:latin typeface="Space Mono"/>
              </a:defRPr>
            </a:pPr>
            <a:r>
              <a:t>08 / 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25603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554480"/>
            <a:ext cx="223113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yne"/>
              </a:defRPr>
            </a:pPr>
            <a:r>
              <a:t>Next.js 16 + Turbopack</a:t>
            </a:r>
          </a:p>
          <a:p>
            <a:pPr>
              <a:spcBef>
                <a:spcPts val="200"/>
              </a:spcBef>
              <a:defRPr sz="900" b="1">
                <a:solidFill>
                  <a:srgbClr val="0284C7"/>
                </a:solidFill>
                <a:latin typeface="Space Mono"/>
              </a:defRPr>
            </a:pPr>
            <a:r>
              <a:t>FRONTEND ENGINEERING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Outfit"/>
              </a:defRPr>
            </a:pPr>
            <a:r>
              <a:t>• 17/17 routes prerendered cleanly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Outfit"/>
              </a:defRPr>
            </a:pPr>
            <a:r>
              <a:t>• Cleanroom Studio light theme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Outfit"/>
              </a:defRPr>
            </a:pPr>
            <a:r>
              <a:t>• Three.js WebGL 3D Matrix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Outfit"/>
              </a:defRPr>
            </a:pPr>
            <a:r>
              <a:t>• Zero Layout Shift (CLS &lt; 0.05)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Outfit"/>
              </a:defRPr>
            </a:pPr>
            <a:r>
              <a:t>• Hosted on Vercel Edge Global CDN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371600"/>
            <a:ext cx="25603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1554480"/>
            <a:ext cx="223113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yne"/>
              </a:defRPr>
            </a:pPr>
            <a:r>
              <a:t>FastAPI + WebSockets</a:t>
            </a:r>
          </a:p>
          <a:p>
            <a:pPr>
              <a:spcBef>
                <a:spcPts val="200"/>
              </a:spcBef>
              <a:defRPr sz="900" b="1">
                <a:solidFill>
                  <a:srgbClr val="0284C7"/>
                </a:solidFill>
                <a:latin typeface="Space Mono"/>
              </a:defRPr>
            </a:pPr>
            <a:r>
              <a:t>BACKEND DAEMON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Outfit"/>
              </a:defRPr>
            </a:pPr>
            <a:r>
              <a:t>• Asynchronous non-blocking architecture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Outfit"/>
              </a:defRPr>
            </a:pPr>
            <a:r>
              <a:t>• Sub-10ms broadcast event loop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Outfit"/>
              </a:defRPr>
            </a:pPr>
            <a:r>
              <a:t>• ESP32 HMAC-SHA256 signature auth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Outfit"/>
              </a:defRPr>
            </a:pPr>
            <a:r>
              <a:t>• Kinetic Arrhenius microservice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Outfit"/>
              </a:defRPr>
            </a:pPr>
            <a:r>
              <a:t>• SQLite / PostgreSQL ledger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371600"/>
            <a:ext cx="25603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072" y="1554480"/>
            <a:ext cx="223113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yne"/>
              </a:defRPr>
            </a:pPr>
            <a:r>
              <a:t>ESP32 Firmware</a:t>
            </a:r>
          </a:p>
          <a:p>
            <a:pPr>
              <a:spcBef>
                <a:spcPts val="200"/>
              </a:spcBef>
              <a:defRPr sz="900" b="1">
                <a:solidFill>
                  <a:srgbClr val="0284C7"/>
                </a:solidFill>
                <a:latin typeface="Space Mono"/>
              </a:defRPr>
            </a:pPr>
            <a:r>
              <a:t>EMBEDDED FIRMWARE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Outfit"/>
              </a:defRPr>
            </a:pPr>
            <a:r>
              <a:t>• FreeRTOS dual-core multitasking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Outfit"/>
              </a:defRPr>
            </a:pPr>
            <a:r>
              <a:t>• Hardware I2C sensor bus acquisition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Outfit"/>
              </a:defRPr>
            </a:pPr>
            <a:r>
              <a:t>• PWM control for cooling and damper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Outfit"/>
              </a:defRPr>
            </a:pPr>
            <a:r>
              <a:t>• Hardware watchdog self-recovery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Outfit"/>
              </a:defRPr>
            </a:pPr>
            <a:r>
              <a:t>• Cryptographic nonce generator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1371600"/>
            <a:ext cx="25603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88552" y="1554480"/>
            <a:ext cx="223113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yne"/>
              </a:defRPr>
            </a:pPr>
            <a:r>
              <a:t>Automated QA</a:t>
            </a:r>
          </a:p>
          <a:p>
            <a:pPr>
              <a:spcBef>
                <a:spcPts val="200"/>
              </a:spcBef>
              <a:defRPr sz="900" b="1">
                <a:solidFill>
                  <a:srgbClr val="0284C7"/>
                </a:solidFill>
                <a:latin typeface="Space Mono"/>
              </a:defRPr>
            </a:pPr>
            <a:r>
              <a:t>VERIFICATION &amp; CI/CD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Outfit"/>
              </a:defRPr>
            </a:pPr>
            <a:r>
              <a:t>• 144+ automated Python tests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Outfit"/>
              </a:defRPr>
            </a:pPr>
            <a:r>
              <a:t>• Playwright E2E browser test suite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Outfit"/>
              </a:defRPr>
            </a:pPr>
            <a:r>
              <a:t>• Turbopack zero-error build guarantee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Outfit"/>
              </a:defRPr>
            </a:pPr>
            <a:r>
              <a:t>• Strict NPM lockfile resolution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Outfit"/>
              </a:defRPr>
            </a:pPr>
            <a:r>
              <a:t>• Continuous automated GitHub deploy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Space Mono"/>
              </a:defRPr>
            </a:pPr>
            <a:r>
              <a:t>LOOKING FORWARD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yne"/>
              </a:defRPr>
            </a:pPr>
            <a:r>
              <a:t>Strategic Roadmap &amp; Future Innovations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6576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  <a:latin typeface="Space Mono"/>
              </a:defRPr>
            </a:pPr>
            <a:r>
              <a:t>09 / 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1554480"/>
            <a:ext cx="301752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yne"/>
              </a:defRPr>
            </a:pPr>
            <a:r>
              <a:t>Phase 1: Present (Completed)</a:t>
            </a:r>
          </a:p>
          <a:p>
            <a:pPr>
              <a:spcBef>
                <a:spcPts val="300"/>
              </a:spcBef>
              <a:defRPr sz="950" b="1">
                <a:solidFill>
                  <a:srgbClr val="10B981"/>
                </a:solidFill>
                <a:latin typeface="Space Mono"/>
              </a:defRPr>
            </a:pPr>
            <a:r>
              <a:t>CURRENT PRODUCTION</a:t>
            </a:r>
          </a:p>
          <a:p>
            <a:pPr>
              <a:spcBef>
                <a:spcPts val="1000"/>
              </a:spcBef>
              <a:defRPr sz="1050">
                <a:solidFill>
                  <a:srgbClr val="475569"/>
                </a:solidFill>
                <a:latin typeface="Outfit"/>
              </a:defRPr>
            </a:pPr>
            <a:r>
              <a:t>• Full hardware telemetry integration with ESP32.</a:t>
            </a:r>
          </a:p>
          <a:p>
            <a:pPr>
              <a:spcBef>
                <a:spcPts val="1000"/>
              </a:spcBef>
              <a:defRPr sz="1050">
                <a:solidFill>
                  <a:srgbClr val="475569"/>
                </a:solidFill>
                <a:latin typeface="Outfit"/>
              </a:defRPr>
            </a:pPr>
            <a:r>
              <a:t>• Arrhenius dynamic degradation &amp; FEFO dispatch.</a:t>
            </a:r>
          </a:p>
          <a:p>
            <a:pPr>
              <a:spcBef>
                <a:spcPts val="1000"/>
              </a:spcBef>
              <a:defRPr sz="1050">
                <a:solidFill>
                  <a:srgbClr val="475569"/>
                </a:solidFill>
                <a:latin typeface="Outfit"/>
              </a:defRPr>
            </a:pPr>
            <a:r>
              <a:t>• Photorealistic 3D Cabinet Matrix with interactive drawers.</a:t>
            </a:r>
          </a:p>
          <a:p>
            <a:pPr>
              <a:spcBef>
                <a:spcPts val="1000"/>
              </a:spcBef>
              <a:defRPr sz="1050">
                <a:solidFill>
                  <a:srgbClr val="475569"/>
                </a:solidFill>
                <a:latin typeface="Outfit"/>
              </a:defRPr>
            </a:pPr>
            <a:r>
              <a:t>• 100% Vercel &amp; CI/CD production deployment.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0560" y="1554480"/>
            <a:ext cx="3017520" cy="54864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73736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yne"/>
              </a:defRPr>
            </a:pPr>
            <a:r>
              <a:t>Phase 2: Robotic Pick-and-Place</a:t>
            </a:r>
          </a:p>
          <a:p>
            <a:pPr>
              <a:spcBef>
                <a:spcPts val="300"/>
              </a:spcBef>
              <a:defRPr sz="950" b="1">
                <a:solidFill>
                  <a:srgbClr val="0284C7"/>
                </a:solidFill>
                <a:latin typeface="Space Mono"/>
              </a:defRPr>
            </a:pPr>
            <a:r>
              <a:t>Q3 2026 TARGET</a:t>
            </a:r>
          </a:p>
          <a:p>
            <a:pPr>
              <a:spcBef>
                <a:spcPts val="1000"/>
              </a:spcBef>
              <a:defRPr sz="1050">
                <a:solidFill>
                  <a:srgbClr val="475569"/>
                </a:solidFill>
                <a:latin typeface="Outfit"/>
              </a:defRPr>
            </a:pPr>
            <a:r>
              <a:t>• CoreXY Cartesian robotic gantry pick-and-place.</a:t>
            </a:r>
          </a:p>
          <a:p>
            <a:pPr>
              <a:spcBef>
                <a:spcPts val="1000"/>
              </a:spcBef>
              <a:defRPr sz="1050">
                <a:solidFill>
                  <a:srgbClr val="475569"/>
                </a:solidFill>
                <a:latin typeface="Outfit"/>
              </a:defRPr>
            </a:pPr>
            <a:r>
              <a:t>• Motorized automated drawer ejection &amp; bin presentation.</a:t>
            </a:r>
          </a:p>
          <a:p>
            <a:pPr>
              <a:spcBef>
                <a:spcPts val="1000"/>
              </a:spcBef>
              <a:defRPr sz="1050">
                <a:solidFill>
                  <a:srgbClr val="475569"/>
                </a:solidFill>
                <a:latin typeface="Outfit"/>
              </a:defRPr>
            </a:pPr>
            <a:r>
              <a:t>• Optical QR/Barcode intake scan verification.</a:t>
            </a:r>
          </a:p>
          <a:p>
            <a:pPr>
              <a:spcBef>
                <a:spcPts val="1000"/>
              </a:spcBef>
              <a:defRPr sz="1050">
                <a:solidFill>
                  <a:srgbClr val="475569"/>
                </a:solidFill>
                <a:latin typeface="Outfit"/>
              </a:defRPr>
            </a:pPr>
            <a:r>
              <a:t>• Master-replica multi-cabinet mesh network.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554480"/>
            <a:ext cx="301752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173736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yne"/>
              </a:defRPr>
            </a:pPr>
            <a:r>
              <a:t>Phase 3: Autonomous Factory AI</a:t>
            </a:r>
          </a:p>
          <a:p>
            <a:pPr>
              <a:spcBef>
                <a:spcPts val="300"/>
              </a:spcBef>
              <a:defRPr sz="950" b="1">
                <a:solidFill>
                  <a:srgbClr val="F59E0B"/>
                </a:solidFill>
                <a:latin typeface="Space Mono"/>
              </a:defRPr>
            </a:pPr>
            <a:r>
              <a:t>Q1 2027 SCALE</a:t>
            </a:r>
          </a:p>
          <a:p>
            <a:pPr>
              <a:spcBef>
                <a:spcPts val="1000"/>
              </a:spcBef>
              <a:defRPr sz="1050">
                <a:solidFill>
                  <a:srgbClr val="475569"/>
                </a:solidFill>
                <a:latin typeface="Outfit"/>
              </a:defRPr>
            </a:pPr>
            <a:r>
              <a:t>• Deep reinforcement learning predictive climate optimization.</a:t>
            </a:r>
          </a:p>
          <a:p>
            <a:pPr>
              <a:spcBef>
                <a:spcPts val="1000"/>
              </a:spcBef>
              <a:defRPr sz="1050">
                <a:solidFill>
                  <a:srgbClr val="475569"/>
                </a:solidFill>
                <a:latin typeface="Outfit"/>
              </a:defRPr>
            </a:pPr>
            <a:r>
              <a:t>• Direct enterprise ERP integration (SAP, Oracle SCM).</a:t>
            </a:r>
          </a:p>
          <a:p>
            <a:pPr>
              <a:spcBef>
                <a:spcPts val="1000"/>
              </a:spcBef>
              <a:defRPr sz="1050">
                <a:solidFill>
                  <a:srgbClr val="475569"/>
                </a:solidFill>
                <a:latin typeface="Outfit"/>
              </a:defRPr>
            </a:pPr>
            <a:r>
              <a:t>• Multi-tenant role-based access control (RBAC).</a:t>
            </a:r>
          </a:p>
          <a:p>
            <a:pPr>
              <a:spcBef>
                <a:spcPts val="1000"/>
              </a:spcBef>
              <a:defRPr sz="1050">
                <a:solidFill>
                  <a:srgbClr val="475569"/>
                </a:solidFill>
                <a:latin typeface="Outfit"/>
              </a:defRPr>
            </a:pPr>
            <a:r>
              <a:t>• Global fab telemetry federation across distributed facilities.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