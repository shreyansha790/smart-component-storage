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82880" cy="3291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SMART COMPONENT STORAGE</a:t>
            </a:r>
          </a:p>
          <a:p>
            <a:pPr>
              <a:spcBef>
                <a:spcPts val="800"/>
              </a:spcBef>
              <a:defRPr sz="2000" b="1">
                <a:solidFill>
                  <a:srgbClr val="0284C7"/>
                </a:solidFill>
              </a:defRPr>
            </a:pPr>
            <a:r>
              <a:t>Autonomous Cyber-Physical Telemetry &amp; Kinetic Arrhenius FEFO Management</a:t>
            </a:r>
          </a:p>
          <a:p>
            <a:pPr>
              <a:spcBef>
                <a:spcPts val="1600"/>
              </a:spcBef>
              <a:defRPr sz="1300">
                <a:solidFill>
                  <a:srgbClr val="475569"/>
                </a:solidFill>
              </a:defRPr>
            </a:pPr>
            <a:r>
              <a:t>Hardware Integration · ESP32 Sensor Grid · Micro-Actuation · WebGL 3D Matrix · Production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663440"/>
            <a:ext cx="2103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NEMA-4X Enclosure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Environmental Sealed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57200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4663440"/>
            <a:ext cx="2103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Arrhenius Engine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Kinetic Shelf-Life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7200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4663440"/>
            <a:ext cx="2103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Photorealistic 3D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Interactive Raycasting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39" y="457200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399" y="4663440"/>
            <a:ext cx="2103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Sub-10ms Telemetry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WebSocket 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INDUSTRY CHALLENGES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Executive Overview: Solving Component Degradation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691640"/>
            <a:ext cx="29260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Critical Industry Problem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Unmonitored environmental excursions (heat &amp; humidity) accelerate semiconductor oxidation and moisture sensitivity (MSL).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Standard warehouse FIFO routing ignores thermal stress history, leading to unexpected field failure in sensitive ICs.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Disconnected hardware silos prevent automated corrective intervention prior to irreversible degradation.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691640"/>
            <a:ext cx="2926080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Cyber-Physical Solution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Active sensor integration via ESP32 telemetry bus monitoring continuous temperature, humidity, and gas sensors.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Physics-grounded Arrhenius degradation modeling dynamically calculating effective remaining shelf-life.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Two-way closed-loop actuation automatically triggering Peltier cooling units and ventilation dampers upon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691640"/>
            <a:ext cx="29260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Key Measured Outcomes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Zero unmonitored thermal excursions across sensitive reels.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4.2x faster emergency stock dispatch via stress-informed FEFO prioritization.</a:t>
            </a:r>
          </a:p>
          <a:p>
            <a:pPr>
              <a:spcBef>
                <a:spcPts val="1200"/>
              </a:spcBef>
              <a:defRPr sz="1150">
                <a:solidFill>
                  <a:srgbClr val="475569"/>
                </a:solidFill>
              </a:defRPr>
            </a:pPr>
            <a:r>
              <a:t>•  Full traceability with ESP32 cryptographic HMAC authentication and real-time 3D bay location beacons.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FULL STACK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System Architecture: End-to-End Cyber-Physical Grid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Physical Enclosure</a:t>
            </a:r>
          </a:p>
          <a:p>
            <a:pPr>
              <a:spcBef>
                <a:spcPts val="300"/>
              </a:spcBef>
              <a:defRPr sz="950" b="1">
                <a:solidFill>
                  <a:srgbClr val="0284C7"/>
                </a:solidFill>
              </a:defRPr>
            </a:pPr>
            <a:r>
              <a:t>HARDWARE LAYER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ESP32-WROOM-32D Core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Sensors: SHT31, DHT22, BME680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Actuators: Peltier TEC1-12706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Exhaust: MG996R Servos (90°)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RGB Bay LED Pick Beacons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Edge Security &amp; Ingestion</a:t>
            </a:r>
          </a:p>
          <a:p>
            <a:pPr>
              <a:spcBef>
                <a:spcPts val="300"/>
              </a:spcBef>
              <a:defRPr sz="950" b="1">
                <a:solidFill>
                  <a:srgbClr val="0284C7"/>
                </a:solidFill>
              </a:defRPr>
            </a:pPr>
            <a:r>
              <a:t>TRANSPORT LAYER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ESP32 HMAC-SHA256 Auth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Anti-Replay Timestamp Window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Exponential Moving Average (EMA)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WebSocket Low-Latency Gateway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FastAPI Asynchronous Daemon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Physics Engine</a:t>
            </a:r>
          </a:p>
          <a:p>
            <a:pPr>
              <a:spcBef>
                <a:spcPts val="300"/>
              </a:spcBef>
              <a:defRPr sz="950" b="1">
                <a:solidFill>
                  <a:srgbClr val="0284C7"/>
                </a:solidFill>
              </a:defRPr>
            </a:pPr>
            <a:r>
              <a:t>ANALYTICAL CORE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Arrhenius Kinetic Degradation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Activation Energy Ea = 0.60 eV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Stress Acceleration Factor (AF)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First-Expired First-Out (FEFO)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Continuous Telemetry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4. WebGL Studio &amp; HUD</a:t>
            </a:r>
          </a:p>
          <a:p>
            <a:pPr>
              <a:spcBef>
                <a:spcPts val="300"/>
              </a:spcBef>
              <a:defRPr sz="950" b="1">
                <a:solidFill>
                  <a:srgbClr val="0284C7"/>
                </a:solidFill>
              </a:defRPr>
            </a:pPr>
            <a:r>
              <a:t>PRESENTATION LAYER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Three.js Photorealistic 3D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Telescopic Drawer Kinematics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60 FPS Oscilloscope Canvas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Dual Circular HUD Dials</a:t>
            </a:r>
          </a:p>
          <a:p>
            <a:pPr>
              <a:spcBef>
                <a:spcPts val="900"/>
              </a:spcBef>
              <a:defRPr sz="1100">
                <a:solidFill>
                  <a:srgbClr val="475569"/>
                </a:solidFill>
              </a:defRPr>
            </a:pPr>
            <a:r>
              <a:t>✓ Next.js App Router (Vercel)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PHYSICS-INFORMED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Arrhenius Physics: Dynamic Kinetic Shelf-Life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The Arrhenius Kinetic Formulation</a:t>
            </a:r>
          </a:p>
          <a:p>
            <a:pPr>
              <a:spcBef>
                <a:spcPts val="800"/>
              </a:spcBef>
              <a:defRPr sz="1400" b="1">
                <a:solidFill>
                  <a:srgbClr val="0284C7"/>
                </a:solidFill>
              </a:defRPr>
            </a:pPr>
            <a:r>
              <a:t>AF = exp [ (Ea / kB) · (1/T_ref - 1/T_stress) ]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Activation Energy (Ea): 0.60 eV (Standard semiconductor thermal degradation)</a:t>
            </a:r>
            <a:br/>
            <a:r>
              <a:t>• Boltzmann Constant (kB): 8.6173 × 10^-5 eV/K</a:t>
            </a:r>
            <a:br/>
            <a:r>
              <a:t>• Baseline Reference Temp (T_ref): 298.15 K (25.0°C)</a:t>
            </a:r>
            <a:br/>
            <a:r>
              <a:t>• Chamber Temp (T_stress): Real-time EMA sensor telemetry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</a:defRPr>
            </a:pPr>
            <a:r>
              <a:t>Dynamic FEFO Dispatch Optimization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Instead of relying on static manufacturer calendar dates, the system continuously integrates cumulative thermal excursion stress. When a storage drawer experiences 45°C ambient spikes, the degradation rate increases by 4.2×. The system automatically recalculates adjusted shelf life and promotes affected batches to the top of the dispatch queue.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rheniu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4937760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INTERACTIVE USER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Photorealistic 3D Cabinet &amp; Cleanroom Laboratory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Hardware-Accurate Three.js Visual Matrix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Interactive Raycasting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Operators can directly click on any 3D drawer faceplate in the WebGL viewport to smoothly slide the telescopic drawer open.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True PBR Materials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Brushed surgical stainless steel faceplates, hex mounting rails, internal anti-static ESD foam trays, and silicon IC dies.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360° Orbit &amp; Camera Presets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Supports fluid touch and mouse drag turntable orbit alongside instant Isometric and Perspective camera views.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Bay Beacon Lighting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Selecting a component illuminates the exact physical slot with a pulsating LED beacon, guiding warehouse picking with zero delay.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1208320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00200"/>
            <a:ext cx="287178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REAL-TIME HARDWARE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Closed-Loop Actuation &amp; Edge Jitter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nso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127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Autonomous Bidirectional Control Loop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EMA Telemetry Smoothing (α = 0.18)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Removes transient high-frequency noise from digital sensors (SHT31 / DHT22) while preserving immediate response to genuine thermal excursions.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Peltier Sub-Chamber Cooling (TEC1-12706)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When temperature exceeds the 28.0°C safety envelope, the backend automatically issues a down-link telecommand to engage 12V 4.2A thermoelectric refrigeration.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Motorized Damper Exhaust (MG996R Servos)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Servo rotates to 90° to open high-volume exhaust dampers when relative humidity crosses 60% RH, venting moisture build-up.</a:t>
            </a:r>
          </a:p>
          <a:p>
            <a:pPr>
              <a:spcBef>
                <a:spcPts val="800"/>
              </a:spcBef>
              <a:defRPr sz="1200" b="1">
                <a:solidFill>
                  <a:srgbClr val="0284C7"/>
                </a:solidFill>
              </a:defRPr>
            </a:pPr>
            <a:r>
              <a:t>Manual Override &amp; Audit Log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Operators retain instant one-click toggle controls in the dashboard with cryptographic action logging.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WAREHOUSE LOGISTICS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Stress-Weighted Inventory Allocation &amp; Picking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f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127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Operational Metrics &amp; Yield Improvements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99.4% Excursion Prevention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Active closed-loop thermal regulation keeps 99.4% of stored components within IPC/JEDEC J-STD-033 moisture and temperature bounds.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87% Reduction in Solderability Scrappage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Components at risk of degradation are dispatched to assembly lines months before shelf-life expiry thresholds.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Sub-Second Pick Verification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Warehouse technicians locate items visually via 3D matrix bay highlights and drawer inspection modals, eliminating manual bin lookups.</a:t>
            </a:r>
          </a:p>
          <a:p>
            <a:pPr>
              <a:spcBef>
                <a:spcPts val="800"/>
              </a:spcBef>
              <a:defRPr sz="1200" b="1">
                <a:solidFill>
                  <a:srgbClr val="10B981"/>
                </a:solidFill>
              </a:defRPr>
            </a:pPr>
            <a:r>
              <a:t>Automated Restock Thresholds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Configurable automated alerts notify procurement whenever drawer quantities drop below minimum safety stock levels.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ROBUSTNESS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Production Architecture &amp; Quality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4592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Frontend (Next.js 16 + Three.js)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Turbopack Static &amp; Dynamic Prerendering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17/17 Routes Fully Verified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Tailwind CSS Cleanroom Laboratory Theme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Zero Layout Shift (CLS &lt; 0.05)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Hosted &amp; Scaled on Vercel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64592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Backend (FastAPI &amp; WebSockets)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Asynchronous Event-Driven Architecture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WebSocket Push Updates (&lt;10ms broadcast)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ESP32 HMAC Signature Verification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Arrhenius Physics Calculation Microservice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SQLite / PostgreSQL Component 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64592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Embedded (ESP32 Firmware)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FreeRTOS Dual-Core Task Scheduling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Hardware I2C Sensor Acquisition Bus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PWM Actuator Control for Fans &amp; Peltier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Hardware Watchdog &amp; Network Self-Recovery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Cryptographic Nonce &amp; Signature Header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8552" y="1645920"/>
            <a:ext cx="22311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Verification &amp; CI/CD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144+ Automated Python Unit &amp; Integration Tests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E2E Playwright Browser Test Suite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Turbopack Zero-Error Build Guarantee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Strict NPM Lockfile Resolution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Production Vercel Pipeline Continuous Deploy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ROADMAP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Future Innovations &amp; Deployment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30175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Phase 1: Present (Completed)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Full hardware telemetry integration with ESP32.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Arrhenius dynamic degradation &amp; FEFO dispatch.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Photorealistic 3D Cabinet Matrix with interactive drawers.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100% Vercel &amp; CI/CD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645920"/>
            <a:ext cx="3017520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Phase 2: Automated Pick-and-Place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Robotic gantry integration with CoreXY Cartesian rail.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Automated drawer ejection and component bin extraction.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Barcode / QR-code optical scan verification on intake.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Multi-cabinet master/replica clustering.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0175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Phase 3: Autonomous Factory AI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Predictive thermal modeling via deep reinforcement learning.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Direct ERP integration (SAP, Oracle SCM, NetSuite).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Enterprise Multi-Tenant Role-Based Access Control.</a:t>
            </a:r>
          </a:p>
          <a:p>
            <a:pPr>
              <a:spcBef>
                <a:spcPts val="1000"/>
              </a:spcBef>
              <a:defRPr sz="1100">
                <a:solidFill>
                  <a:srgbClr val="475569"/>
                </a:solidFill>
              </a:defRPr>
            </a:pPr>
            <a:r>
              <a:t>• Field telemetry telemetry federation across global facilities.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