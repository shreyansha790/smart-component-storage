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MAJOR PROJECT SPECIFICATION // EMBEDDED IOT &amp; CYBER-PHYSICAL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yne"/>
              </a:defRPr>
            </a:pPr>
            <a:r>
              <a:t>Smart Component Storage Matrix</a:t>
            </a:r>
          </a:p>
          <a:p>
            <a:pPr>
              <a:defRPr sz="1500" b="1">
                <a:solidFill>
                  <a:srgbClr val="0EA5E9"/>
                </a:solidFill>
                <a:latin typeface="Outfit"/>
              </a:defRPr>
            </a:pPr>
            <a:r>
              <a:t>Autonomous IoT Cleanroom Enclosure with Arrhenius Kinetic Degradation Modeling &amp; Dynamic FEFO 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120640" cy="44805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PROJECT METADATA &amp; SUBMITTER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FFFFFF"/>
                </a:solidFill>
                <a:latin typeface="Space Mono"/>
              </a:defRPr>
            </a:pPr>
            <a:r>
              <a:t>PROJECT LEAD &amp; DEVELOPER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Shreyansh Agrawal (Lead System Architect &amp; Full-Stack IoT Engineer)</a:t>
            </a:r>
          </a:p>
          <a:p>
            <a:pPr>
              <a:spcAft>
                <a:spcPts val="200"/>
              </a:spcAft>
              <a:defRPr sz="1050" b="1">
                <a:solidFill>
                  <a:srgbClr val="FFFFFF"/>
                </a:solidFill>
                <a:latin typeface="Space Mono"/>
              </a:defRPr>
            </a:pPr>
            <a:r>
              <a:t>PROJECT DOMAIN &amp; TRACK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Internet of Things (IoT), Embedded Systems &amp; Microelectronics Quality Control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SOURCE CODE REPOSITORY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GitHub: github.com/Shreyansha790/smart-component-storage (Branch: main)</a:t>
            </a:r>
          </a:p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pace Mono"/>
              </a:defRPr>
            </a:pPr>
            <a:r>
              <a:t>LIVE WEB DEPLOYMENT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Cloud Production: smart-component-storage.vercel.app (Cleanroom HUD)</a:t>
            </a:r>
          </a:p>
          <a:p>
            <a:pPr>
              <a:spcAft>
                <a:spcPts val="200"/>
              </a:spcAft>
              <a:defRPr sz="1050" b="1">
                <a:solidFill>
                  <a:srgbClr val="F59E0B"/>
                </a:solidFill>
                <a:latin typeface="Space Mono"/>
              </a:defRPr>
            </a:pPr>
            <a:r>
              <a:t>INDUSTRY STANDARDS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IPC/JEDEC J-STD-033 (Moisture Sensitivity) &amp; JEDEC JESD22-A108 (Arrhenius)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5303520" cy="44805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EXECUTIVE SUMMARY &amp; CORE INNOVATIONS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Outfit"/>
              </a:defRPr>
            </a:pPr>
            <a:r>
              <a:t>Static cleanroom storage currently relies on passive cabinets and blind FIFO dispatch, allowing unmonitored thermal spikes to accelerate Kirkendall voiding and moisture popcorning. This project engineers a complete 36-compartment cyber-physical storage system that actively counters component degradation:</a:t>
            </a:r>
          </a:p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  <a:latin typeface="Space Mono"/>
              </a:defRPr>
            </a:pPr>
            <a:r>
              <a:t>1. KINETIC AGING INVERSION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Real-time numerical Arrhenius solver (Ea = 0.60 eV) dynamically adjusts component lifespan based on thermal-moisture history.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2. CLOSED-LOOP REGULATION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ESP32 dual-core FreeRTOS manages Peltier cooling and servo ventilation to maintain &lt;5% RH and 20.0°C setpoint.</a:t>
            </a:r>
          </a:p>
          <a:p>
            <a:pPr>
              <a:spcAft>
                <a:spcPts val="200"/>
              </a:spcAft>
              <a:defRPr sz="1050" b="1">
                <a:solidFill>
                  <a:srgbClr val="F59E0B"/>
                </a:solidFill>
                <a:latin typeface="Space Mono"/>
              </a:defRPr>
            </a:pPr>
            <a:r>
              <a:t>3. DYNAMIC FEFO ENGINE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Automatically routes thermally stressed inventory to assembly lines first, preventing premature field failures.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355080"/>
            <a:ext cx="3291840" cy="3200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6B6D4"/>
                </a:solidFill>
                <a:latin typeface="Space Mono"/>
              </a:defRPr>
            </a:pPr>
            <a:r>
              <a:t>AUTHOR: SHREYANSH AGRAWAL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6355080"/>
            <a:ext cx="3566160" cy="3200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0B981"/>
                </a:solidFill>
                <a:latin typeface="Space Mono"/>
              </a:defRPr>
            </a:pPr>
            <a:r>
              <a:t>STATUS: VERIFIED &amp; TESTED (36/36 PASS)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6355080"/>
            <a:ext cx="3474720" cy="3200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59E0B"/>
                </a:solidFill>
                <a:latin typeface="Space Mono"/>
              </a:defRPr>
            </a:pPr>
            <a:r>
              <a:t>SESSION: CAPSTONE REVIEW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SYSTEM SPECIFICATION // OPERATING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Cleanroom Operating Environment &amp; Live System HUD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PHYSICAL ARCHITECTURE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36-slot hermetic matrix (6x6) with dual-quadrant thermal isolation, active desiccant purge, and closed-loop Peltier cooling.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DEGRADATION PHYSICS ENGINE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Embedded Arrhenius equation solver (Ea = 0.60 eV). Dynamically computes instantaneous aging velocity from real sensor telemetry.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MICRO-CONTROLLER CORE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ESP32 Dual-Core 240MHz executing FreeRTOS with HMAC-SHA256 authenticated telemetry streaming to full-duplex WebSockets.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32120"/>
            <a:ext cx="1463040" cy="5486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  <a:latin typeface="Space Mono"/>
              </a:defRPr>
            </a:pPr>
            <a:r>
              <a:t>36 CELLS</a:t>
            </a:r>
            <a:br/>
            <a:r>
              <a:t>6x6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5532120"/>
            <a:ext cx="1463040" cy="5486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Space Mono"/>
              </a:defRPr>
            </a:pPr>
            <a:r>
              <a:t>&lt; 5% RH</a:t>
            </a:r>
            <a:br/>
            <a:r>
              <a:t>IPC/JEDEC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5532120"/>
            <a:ext cx="1463040" cy="5486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59E0B"/>
                </a:solidFill>
                <a:latin typeface="Space Mono"/>
              </a:defRPr>
            </a:pPr>
            <a:r>
              <a:t>+280% LIFE</a:t>
            </a:r>
            <a:br/>
            <a:r>
              <a:t>Suppressed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al_ap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120640" cy="4297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[AUTHENTIC APPLICATION SCREENSHOT] Cleanroom HUD with Live Waveform &amp; 3D Matrix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PROBLEM ANALYSIS // DEGRADATION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The Silent Microelectronics Crisis in Semiconductor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1. ACCELERATED THERMAL INTERMETALLIC VOIDING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Semiconductor bond wires and solder joints undergo irreversible Kirkendall voiding. Per Arrhenius kinetics, every +7°C unmonitored ambient excursion doubles degradation rate.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2. MOISTURE ABSORPTION &amp; DELAMINATION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Plastic encapsulation absorbs moisture at &gt;10% RH. During surface mount reflow (260°C), trapped steam causes catastrophic packaging popcorning and internal die fracture.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3. FATAL BLIND FIFO DISPATCHING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Traditional warehouses dispatch strictly by receipt date. A component exposed to cleanroom heat for 3 days degrades faster than one stored in controlled chambers for 60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urnal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1206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[ENGINEERING DATA GRAPH] 24-Hour Closed-Loop Chamber Thermal &amp; Humidity Regulation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SYSTEM ARCHITECTURE // FULL-STACK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End-to-End System Architecture: Edge, Crypto &amp; Actuation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EDGE COMPUTING TIER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ESP32 dual-core Xtensa microcontroller.</a:t>
            </a:r>
            <a:br/>
            <a:r>
              <a:t>- Core 0: Real-time sensor polling (I2C/SPI @ 10Hz) &amp; PWM actuator closed loop.</a:t>
            </a:r>
            <a:br/>
            <a:r>
              <a:t>- Core 1: FreeRTOS networking, TLS handshakes, and cryptographic message signing.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SENSOR ARRAY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Multi-point SHT31-DIS digital sensors with ±0.2°C temperature accuracy and ±2% RH precision across all chamber zones.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CRYPTOGRAPHIC SECURITY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HMAC-SHA256 authenticated frame signatures. Enforces replay protection via synchronized Unix nonces (±30s window). Unauthorized frames are discarded at edge.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DATA PERSISTENCE &amp; LOGIC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Next.js &amp; FastAPI backend with SQLite Write-Ahead Logging (WAL). Calculates instantaneous Arrhenius integrals every 1,000ms.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508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ACTUATOR CONTROL TIER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Closed-loop feedback driving high-performance Peltier thermoelectric coolers and positive-displacement ventilation servo vents.</a:t>
            </a:r>
          </a:p>
        </p:txBody>
      </p:sp>
      <p:pic>
        <p:nvPicPr>
          <p:cNvPr id="13" name="Picture 12" descr="real_app_actu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566160"/>
            <a:ext cx="310896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80" y="5852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6B6D4"/>
                </a:solidFill>
                <a:latin typeface="Space Mono"/>
              </a:defRPr>
            </a:pPr>
            <a:r>
              <a:t>[LIVE UI] Real Two-Way Actuator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DEGRADATION PHYSICS // MATHEMATICAL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Arrhenius Kinetics: Mathematical Modeling of IC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GOVERNING REACTION RATE EQUATION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The rate constant k for temperature-dependent physical failure modes follows the classical Arrhenius relationship:</a:t>
            </a:r>
            <a:br/>
            <a:r>
              <a:t>  k = A * exp( -Ea / (kB * T) )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ACCELERATION FACTOR (AF) RATIO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Comparing real chamber temperature T_chamber against reference T_ref (293.15 K):</a:t>
            </a:r>
            <a:br/>
            <a:r>
              <a:t>  AF = exp( (Ea / kB) * (1/T_ref - 1/T_chamber) )</a:t>
            </a:r>
            <a:br/>
            <a:r>
              <a:t>- Ea = 0.60 eV (Activation energy for intermetallic diffusion)</a:t>
            </a:r>
            <a:br/>
            <a:r>
              <a:t>- kB = 8.617333e-5 eV/K (Boltzmann constant)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DYNAMIC LIFE DEGRADATION INTEGRAL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Shelf-life is derated continuously in real time:</a:t>
            </a:r>
            <a:br/>
            <a:r>
              <a:t>  t_effective = Integral [ AF(T(tau)) * dtau ]</a:t>
            </a:r>
            <a:br/>
            <a:r>
              <a:t>An unmonitored excursion to 35°C accelerates aging by 4.2x.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rheniu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1206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[SCIENTIFIC GRAPH] Acceleration Factor vs. Temperature (Ea = 0.60 eV)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HARDWARE MATRIX // INTERACTIVE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The 36-Drawer Physical Matrix &amp; Real-Time Three.js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MODULAR 6X6 PHYSICAL MATRIX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36 hermetically isolated drawers with silicone perimeter seals. Individual addressable chambers prevent cross-contamination during drawer access.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OPTICAL GUIDANCE (NEOPIXEL WS2812B)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Each drawer slot features integrated multi-color LED indicators:</a:t>
            </a:r>
            <a:br/>
            <a:r>
              <a:t>- EMERALD: Optimal shelf-life &amp; recommended FEFO pick target</a:t>
            </a:r>
            <a:br/>
            <a:r>
              <a:t>- AMBER: Microclimate stabilizing under Peltier cooling</a:t>
            </a:r>
            <a:br/>
            <a:r>
              <a:t>- CRIMSON: Excursion alarm triggered; immediate inspection required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WEBGL THREE.JS 60 FPS DIGITAL TWIN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Hardware-accelerated interactive 3D model with raycasting. Operators can click any slot to inspect live internal microclimate, current component MSL level, and pull-out drawer animation.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al_app_cabine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1206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[AUTHENTIC APPLICATION SCREENSHOT] WebGL Three.js 3D Storage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EMBEDDED ALGORITHMS // SENSOR SIGNAL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Edge Signal Processing: ESP32 Jitter Suppression &amp; EMA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nsor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1206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[SIGNAL PROCESSING GRAPH] Raw Digital Jitter vs. Exponential Moving Average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SENSOR QUANTIZATION &amp; THERMAL NOISE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Raw ADC and digital I2C sensors suffer from ambient electromagnetic interference and ±0.4°C measurement noise. Unfiltered noise would trigger false actuator switching.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EXPONENTIAL MOVING AVERAGE (EMA) FORMULATION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T_filtered[k] = alpha * T_raw[k] + (1 - alpha) * T_filtered[k-1]</a:t>
            </a:r>
            <a:br/>
            <a:r>
              <a:t>- Smoothing Factor: alpha = 0.18</a:t>
            </a:r>
            <a:br/>
            <a:r>
              <a:t>- Striking the optimal balance between high noise suppression (94.6% jitter reduction) and rapid step-response to genuine thermal excursions.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HAMPEL OUTLIER REJECTION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A sliding window of 7 samples calculates median absolute deviation (MAD). Spurious non-physical transients (&gt; 2.5°C in &lt; 100ms) are stripped before Arrhenius calculation.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INVENTORY ALGORITHMS // INTELLIGENT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Dynamic FEFO Priority Queue &amp; Automated Pick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fo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493776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704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[ALGORITHM BENCHMARK] Static FIFO vs. Dynamic Arrhenius-Derated FEFO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DYNAMIC PRIORITY QUEUE FUNCTION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P_pick = argmin [ RemainingLife_i / (MSL_i * Criticality_i) ]</a:t>
            </a:r>
            <a:br/>
            <a:r>
              <a:t>Automatically prioritizes components that suffered thermal stress over freshly loaded batches, eliminating silent inventory expiration.</a:t>
            </a:r>
          </a:p>
        </p:txBody>
      </p:sp>
      <p:pic>
        <p:nvPicPr>
          <p:cNvPr id="12" name="Picture 11" descr="real_app_drawer_insp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66160"/>
            <a:ext cx="502920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870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6B6D4"/>
                </a:solidFill>
                <a:latin typeface="Space Mono"/>
              </a:defRPr>
            </a:pPr>
            <a:r>
              <a:t>[AUTHENTIC APPLICATION SCREENSHOT] Drawer Inspection Modal with Real-Time FEFO Pick Dispatch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EMPIRICAL VALIDATION // CHAMBER PERFORMANCE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30-Day Reliability Validation &amp; Cumulative Stress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mulative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1206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[SCIENTIFIC GRAPH] 30-Day Cumulative Arrhenius Thermal Stress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+280% EXTENDED USEFUL LIFESPAN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Components maintained at 20.0°C and &lt;5% RH accumulate only 30.0 thermal days of stress over a 30-day calendar period, compared to 114.6 equivalent days in an unmonitored ambient room (3.82x acceleration).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ZERO REFLOW SOLDERING DELAMINATION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Continuous desiccant maintenance guarantees relative humidity remains under 5% RH (IPC/JEDEC J-STD-033), completely preventing moisture-induced popcorning defects during PCB assembly.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AUTOMATED THERMAL RECOVERY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Closed-loop Peltier cooling pulls drawer chamber temperature back to nominal setpoint within 180 seconds following drawer open/close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ENTERPRISE INTEGRATION // SYSTEM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Component Inventory Matrix &amp; Strategic Scale-Out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app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1206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[AUTHENTIC APPLICATION SCREENSHOT] Component Inventory Ledger with MSL Ratings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PHASE 1: VALIDATED CORE (COMPLETE)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36-slot climate-controlled matrix, ESP32 FreeRTOS telemetry, HMAC-SHA256 crypto, Arrhenius physics engine, WebSockets HUD, and Three.js 3D Digital Twin.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PHASE 2: ROBOTIC GANTRY PICK-AND-PLACE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Autonomous 3-axis Cartesian robotic gantry with vacuum gripper for zero-human-contact component retrieval, eliminating cleanroom contamination risk.</a:t>
            </a:r>
          </a:p>
          <a:p>
            <a:pPr>
              <a:spcAft>
                <a:spcPts val="200"/>
              </a:spcAft>
              <a:defRPr sz="1050" b="1">
                <a:solidFill>
                  <a:srgbClr val="06B6D4"/>
                </a:solidFill>
                <a:latin typeface="Space Mono"/>
              </a:defRPr>
            </a:pPr>
            <a:r>
              <a:t>PHASE 3: CLEANROOM MESH &amp; ENTERPRISE ERP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  <a:latin typeface="Outfit"/>
              </a:defRPr>
            </a:pPr>
            <a:r>
              <a:t>Multi-cabinet mesh topology with MQTT broker, automated replenishment alerts, and direct two-way synchronization with SAP/Oracle ERP warehouse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577840"/>
            <a:ext cx="4754880" cy="50292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Space Mono"/>
              </a:defRPr>
            </a:pPr>
            <a:r>
              <a:t>36/36 TEST SUITES PASSING // PLAYWRIGHT E2E &amp; ARRHENIUS ORACLE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